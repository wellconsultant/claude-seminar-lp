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6032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E8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8856D"/>
                </a:solidFill>
                <a:latin typeface="Inter"/>
              </a:defRPr>
            </a:pPr>
            <a:r>
              <a:t>2026.4.10  ONLINE SEMINAR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Claude Code 導入勉強会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999AA"/>
                </a:solidFill>
                <a:latin typeface="Noto Sans JP"/>
              </a:defRPr>
            </a:pPr>
            <a:r>
              <a:t>コピペ地獄から解放される AI実務活用の新常識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6032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E8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8856D"/>
                </a:solidFill>
                <a:latin typeface="Inter"/>
              </a:defRPr>
            </a:pPr>
            <a:r>
              <a:t>PROLOGUE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なぜこの勉強会を</a:t>
            </a:r>
            <a:br/>
            <a:r>
              <a:t>やるのか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行政書士として</a:t>
            </a:r>
            <a:br/>
            <a:r>
              <a:t>コピペ地獄に苦しんでいた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1887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役所の書式にデータを手入力する毎日</a:t>
            </a:r>
          </a:p>
          <a:p>
            <a:pPr algn="l">
              <a:spcAft>
                <a:spcPts val="800"/>
              </a:spcAft>
              <a:defRPr sz="20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Claude Codeを業務に組み込んだことで、実務が根本的に変わった</a:t>
            </a:r>
          </a:p>
          <a:p>
            <a:pPr algn="l">
              <a:spcAft>
                <a:spcPts val="800"/>
              </a:spcAft>
              <a:defRPr sz="20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しかし情報はエンジニア向けか汎用的なものばかり</a:t>
            </a:r>
          </a:p>
          <a:p>
            <a:pPr algn="l">
              <a:spcAft>
                <a:spcPts val="800"/>
              </a:spcAft>
              <a:defRPr sz="20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士業・小規模事業者の実務に落とし込んだ情報がどこにもない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943600"/>
            <a:ext cx="11887200" cy="9144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400" b="1">
                <a:solidFill>
                  <a:srgbClr val="18181B"/>
                </a:solidFill>
                <a:latin typeface="Noto Sans JP"/>
              </a:defRPr>
            </a:pPr>
            <a:r>
              <a:t>だから自分でやることにしました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自己紹介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A3A42"/>
                </a:solidFill>
                <a:latin typeface="Noto Sans JP"/>
              </a:defRPr>
            </a:pPr>
            <a:r>
              <a:t>行政書士 阿久津和宏</a:t>
            </a:r>
            <a:br/>
            <a:r>
              <a:t>補助金申請の実務にClaude Codeを導入している当事者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11887200" cy="18288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400" b="1">
                <a:solidFill>
                  <a:srgbClr val="18181B"/>
                </a:solidFill>
                <a:latin typeface="Noto Sans JP"/>
              </a:defRPr>
            </a:pPr>
            <a:r>
              <a:t>今日のルール</a:t>
            </a:r>
            <a:br/>
            <a:r>
              <a:t>プログラミングの話はしません。コードは1行も書きません。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こんな経験ありませんか？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今日の参加者が抱えている痛み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1887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AIやツールを入れたのに帰宅時間が変わらない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「自動化できる」と聞いたのに自動化する作業に追われている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SNSを見ていると乗り遅れを感じて焦る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役所のポンコツ書式のせいでAIが使えない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6032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E8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8856D"/>
                </a:solidFill>
                <a:latin typeface="Inter"/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なぜAIを入れても</a:t>
            </a:r>
            <a:br/>
            <a:r>
              <a:t>楽にならないのか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あるある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AIツール導入の無限ループ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ChatGPT</a:t>
            </a:r>
            <a:br/>
            <a:r>
              <a:t>契約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ツール</a:t>
            </a:r>
            <a:br/>
            <a:r>
              <a:t>試す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YouTube</a:t>
            </a:r>
            <a:br/>
            <a:r>
              <a:t>勉強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楽に</a:t>
            </a:r>
            <a:br/>
            <a:r>
              <a:t>ならない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4712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また</a:t>
            </a:r>
            <a:br/>
            <a:r>
              <a:t>探す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43600"/>
            <a:ext cx="1234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A3A42"/>
                </a:solidFill>
                <a:latin typeface="Noto Sans JP"/>
              </a:defRPr>
            </a:pPr>
            <a:r>
              <a:t>ツールを使うための新たな手間が増えている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個人の能力ではなく構造の問題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59436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274320"/>
          <a:lstStyle/>
          <a:p>
            <a:pPr algn="ctr">
              <a:spcAft>
                <a:spcPts val="600"/>
              </a:spcAft>
              <a:defRPr sz="4400" b="1">
                <a:solidFill>
                  <a:srgbClr val="D4654A"/>
                </a:solidFill>
                <a:latin typeface="Inter"/>
              </a:defRPr>
            </a:pPr>
            <a:r>
              <a:t>77%</a:t>
            </a:r>
          </a:p>
          <a:p>
            <a:pPr>
              <a:spcAft>
                <a:spcPts val="800"/>
              </a:spcAft>
              <a:defRPr sz="1100" b="1">
                <a:solidFill>
                  <a:srgbClr val="D4654A"/>
                </a:solidFill>
                <a:latin typeface="Inter"/>
              </a:defRPr>
            </a:pPr>
            <a:r>
              <a:t>Upwork調査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AI導入現場の77%が</a:t>
            </a:r>
            <a:br/>
            <a:r>
              <a:t>逆に仕事量が増加している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926080"/>
            <a:ext cx="59436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274320"/>
          <a:lstStyle/>
          <a:p>
            <a:pPr algn="ctr">
              <a:spcAft>
                <a:spcPts val="600"/>
              </a:spcAft>
              <a:defRPr sz="4400" b="1">
                <a:solidFill>
                  <a:srgbClr val="D4654A"/>
                </a:solidFill>
                <a:latin typeface="Inter"/>
              </a:defRPr>
            </a:pPr>
            <a:r>
              <a:t>80%</a:t>
            </a:r>
          </a:p>
          <a:p>
            <a:pPr>
              <a:spcAft>
                <a:spcPts val="800"/>
              </a:spcAft>
              <a:defRPr sz="1100" b="1">
                <a:solidFill>
                  <a:srgbClr val="D4654A"/>
                </a:solidFill>
                <a:latin typeface="Inter"/>
              </a:defRPr>
            </a:pPr>
            <a:r>
              <a:t>Pendo調査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クラウドツール機能の80%は</a:t>
            </a:r>
            <a:br/>
            <a:r>
              <a:t>実際には使われていない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正体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あなたは「データの運び屋」になっている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PDFを開く → 別システムに手打ち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ChatGPTの出力 → コピー → 役所フォーマットに貼り付け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ログイン → パスワード → 認証コード → やっとスタート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486400"/>
            <a:ext cx="11887200" cy="13716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200" b="1">
                <a:solidFill>
                  <a:srgbClr val="18181B"/>
                </a:solidFill>
                <a:latin typeface="Noto Sans JP"/>
              </a:defRPr>
            </a:pPr>
            <a:r>
              <a:t>どれも「専門知識」を使っていない作業</a:t>
            </a:r>
            <a:br/>
            <a:r>
              <a:t>ツールとツールの間を人間が手作業で埋めている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時間のロス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「たかがコピペ」が奪っているもの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59436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274320"/>
          <a:lstStyle/>
          <a:p>
            <a:pPr algn="ctr">
              <a:spcAft>
                <a:spcPts val="600"/>
              </a:spcAft>
              <a:defRPr sz="4400" b="1">
                <a:solidFill>
                  <a:srgbClr val="D4654A"/>
                </a:solidFill>
                <a:latin typeface="Inter"/>
              </a:defRPr>
            </a:pPr>
            <a:r>
              <a:t>23分15秒</a:t>
            </a:r>
          </a:p>
          <a:p>
            <a:pPr>
              <a:spcAft>
                <a:spcPts val="800"/>
              </a:spcAft>
              <a:defRPr sz="1100" b="1">
                <a:solidFill>
                  <a:srgbClr val="D4654A"/>
                </a:solidFill>
                <a:latin typeface="Inter"/>
              </a:defRPr>
            </a:pPr>
            <a:r>
              <a:t>カリフォルニア大学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作業を切り替えてから</a:t>
            </a:r>
            <a:br/>
            <a:r>
              <a:t>集中に戻るまでにかかる時間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926080"/>
            <a:ext cx="59436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 bIns="274320"/>
          <a:lstStyle/>
          <a:p>
            <a:pPr algn="ctr">
              <a:spcAft>
                <a:spcPts val="600"/>
              </a:spcAft>
              <a:defRPr sz="4400" b="1">
                <a:solidFill>
                  <a:srgbClr val="D4654A"/>
                </a:solidFill>
                <a:latin typeface="Inter"/>
              </a:defRPr>
            </a:pPr>
            <a:r>
              <a:t>約5週間/年</a:t>
            </a:r>
          </a:p>
          <a:p>
            <a:pPr>
              <a:spcAft>
                <a:spcPts val="800"/>
              </a:spcAft>
              <a:defRPr sz="1100" b="1">
                <a:solidFill>
                  <a:srgbClr val="D4654A"/>
                </a:solidFill>
                <a:latin typeface="Inter"/>
              </a:defRPr>
            </a:pPr>
            <a:r>
              <a:t>HBR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アプリ切り替えだけで</a:t>
            </a:r>
            <a:br/>
            <a:r>
              <a:t>年間約5週間分のロス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脳と家庭へのダメージ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コピペは脳をすり減らしている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59436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8181B"/>
                </a:solidFill>
                <a:latin typeface="Noto Sans JP"/>
              </a:defRPr>
            </a:pPr>
            <a:r>
              <a:t>脳の疲労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繰り返し認知タスクで疲労物質が蓄積（パリ脳研究所）。</a:t>
            </a:r>
            <a:br/>
            <a:r>
              <a:t>現状維持バイアスが強化され、新規事業に踏み出せなくなる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926080"/>
            <a:ext cx="59436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8181B"/>
                </a:solidFill>
                <a:latin typeface="Noto Sans JP"/>
              </a:defRPr>
            </a:pPr>
            <a:r>
              <a:t>家庭への波及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未完了タスクが不眠を誘発（ベイラー大学）。</a:t>
            </a:r>
            <a:br/>
            <a:r>
              <a:t>前頭葉疲労で感情制御が低下し、家庭へ持ち込まれる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6032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E8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8856D"/>
                </a:solidFill>
                <a:latin typeface="Inter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AI情報を追いかけても</a:t>
            </a:r>
            <a:br/>
            <a:r>
              <a:t>自分の作業が変わらない理由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問題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ツール紹介で止まっている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1887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世の中のAI情報の大半は「このツールが便利」で終わっている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それを自分の業務のどこに・どう組み込むかは誰も教えてくれない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ツールを知ることと、業務が楽になることは別の話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問題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汎用的すぎて実務に合わない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「議事録要約」「メール文案」→ 業務の末端で本丸じゃない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本当に時間を取られるのは役所の独自書式、申請手続き、顧客別の書類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発信者は「AIの専門家」であって「あなたの業務の専門家」ではない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486400"/>
            <a:ext cx="11887200" cy="13716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200" b="1">
                <a:solidFill>
                  <a:srgbClr val="18181B"/>
                </a:solidFill>
                <a:latin typeface="Noto Sans JP"/>
              </a:defRPr>
            </a:pPr>
            <a:r>
              <a:t>あなたの業務を知らない人の情報は</a:t>
            </a:r>
            <a:br/>
            <a:r>
              <a:t>どれだけ正しくても現場には刺さらない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問題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「全部AIにやらせる」という誤解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AIに丸投げ → 出力を修正 → 修正作業が増える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「コピペの運び屋」が「修正の運び屋」に変わっただけ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029200"/>
            <a:ext cx="11887200" cy="13716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200" b="1">
                <a:solidFill>
                  <a:srgbClr val="18181B"/>
                </a:solidFill>
                <a:latin typeface="Noto Sans JP"/>
              </a:defRPr>
            </a:pPr>
            <a:r>
              <a:t>AIに任せる部分と自分がやる部分の線引きは</a:t>
            </a:r>
            <a:br/>
            <a:r>
              <a:t>業務の中身を知っている人間にしかできない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6032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E8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8856D"/>
                </a:solidFill>
                <a:latin typeface="Inter"/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AI導入の</a:t>
            </a:r>
            <a:br/>
            <a:r>
              <a:t>マインドセット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過大評価 or 過小評価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AIの能力を正しく知る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59436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7A7A88"/>
                </a:solidFill>
                <a:latin typeface="Noto Sans JP"/>
              </a:defRPr>
            </a:pPr>
            <a:r>
              <a:t>過大評価すると...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「丸投げしたのに使えない」</a:t>
            </a:r>
            <a:br/>
            <a:r>
              <a:t>すぐ諦める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926080"/>
            <a:ext cx="59436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7A7A88"/>
                </a:solidFill>
                <a:latin typeface="Noto Sans JP"/>
              </a:defRPr>
            </a:pPr>
            <a:r>
              <a:t>過小評価すると...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「どうせ自分の業務には合わない」</a:t>
            </a:r>
            <a:br/>
            <a:r>
              <a:t>触らない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400800"/>
            <a:ext cx="1234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A3A42"/>
                </a:solidFill>
                <a:latin typeface="Noto Sans JP"/>
              </a:defRPr>
            </a:pPr>
            <a:r>
              <a:t>この境界線を知らないまま使うから「期待はずれ」になる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境界線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AIにできること・できないこと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5943600" cy="41148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54A"/>
                </a:solidFill>
                <a:latin typeface="Noto Sans JP"/>
              </a:defRPr>
            </a:pPr>
            <a:r>
              <a:t>AIにできること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657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大量のデータ処理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定型文の生成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情報の収集・整理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ファイル操作の自動実行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926080"/>
            <a:ext cx="5943600" cy="4114800"/>
          </a:xfrm>
          <a:prstGeom prst="roundRect">
            <a:avLst>
              <a:gd name="adj" fmla="val 4000"/>
            </a:avLst>
          </a:prstGeom>
          <a:solidFill>
            <a:srgbClr val="F5F3E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7A88"/>
                </a:solidFill>
                <a:latin typeface="Noto Sans JP"/>
              </a:defRPr>
            </a:pPr>
            <a:r>
              <a:t>AIにできないこと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657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クライアントの本音を汲む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事業の本質的な強みを見抜く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審査基準との最終判断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補助金 事業計画書の場合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正しい切り分けの例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5943600" cy="292608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54A"/>
                </a:solidFill>
                <a:latin typeface="Noto Sans JP"/>
              </a:defRPr>
            </a:pPr>
            <a:r>
              <a:t>AIが担当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747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市場データの収集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統計の整理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文章の構成・初稿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743200"/>
            <a:ext cx="5943600" cy="2926080"/>
          </a:xfrm>
          <a:prstGeom prst="roundRect">
            <a:avLst>
              <a:gd name="adj" fmla="val 4000"/>
            </a:avLst>
          </a:prstGeom>
          <a:solidFill>
            <a:srgbClr val="F5F3E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7A88"/>
                </a:solidFill>
                <a:latin typeface="Noto Sans JP"/>
              </a:defRPr>
            </a:pPr>
            <a:r>
              <a:t>自分が担当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4747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ヒアリング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事業の強みの言語化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審査基準との最終照合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6217920"/>
            <a:ext cx="12344400" cy="109728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200" b="1">
                <a:solidFill>
                  <a:srgbClr val="18181B"/>
                </a:solidFill>
                <a:latin typeface="Noto Sans JP"/>
              </a:defRPr>
            </a:pPr>
            <a:r>
              <a:t>この切り分けができるとコピペが消える</a:t>
            </a:r>
            <a:br/>
            <a:r>
              <a:t>AIが直接ファイルを読み、直接書き出す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じゃあその切り分けは</a:t>
            </a:r>
            <a:br/>
            <a:r>
              <a:t>誰がやるのか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474720"/>
            <a:ext cx="11887200" cy="109728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800" b="1">
                <a:solidFill>
                  <a:srgbClr val="18181B"/>
                </a:solidFill>
                <a:latin typeface="Noto Sans JP"/>
              </a:defRPr>
            </a:pPr>
            <a:r>
              <a:t>業務の中身を知っている人間にしかできない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A3A42"/>
                </a:solidFill>
                <a:latin typeface="Noto Sans JP"/>
              </a:defRPr>
            </a:pPr>
            <a:r>
              <a:t>AIの専門家ではなく</a:t>
            </a:r>
            <a:br/>
            <a:r>
              <a:t>業務の専門家がAIの組み込み方を決める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6032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E8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8856D"/>
                </a:solidFill>
                <a:latin typeface="Inter"/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AI活用にかかせない</a:t>
            </a:r>
            <a:br/>
            <a:r>
              <a:t>3つの要素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3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揃えるべき3つの要素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384048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役割（誰が）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どのAIに、どの作業を担当させるか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2926080"/>
            <a:ext cx="384048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指示（何を）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業務固有の手順・書式・基準をどう伝えるか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0"/>
            <a:ext cx="384048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参考（どのように）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どんな素材・データ・前例を渡すか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3つが揃うと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何が変わるのか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1887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役割が決まっている → AIが勝手に動く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指示が明確 → 出力の手直しが激減する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参考が揃っている → 自分の業務に合った出力が出る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486400"/>
            <a:ext cx="11887200" cy="109728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200" b="1">
                <a:solidFill>
                  <a:srgbClr val="18181B"/>
                </a:solidFill>
                <a:latin typeface="Noto Sans JP"/>
              </a:defRPr>
            </a:pPr>
            <a:r>
              <a:t>1つでも欠けると「便利だけど楽にならない」が続く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具体例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3要素を実務に当てはめる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384048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役割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「あなたは補助金申請の専門家で、事業計画書の初稿を作成する担当です」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2926080"/>
            <a:ext cx="384048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指示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「この書式に沿って、審査基準5項目を全て網羅した計画書を書いてください」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0"/>
            <a:ext cx="384048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参考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「ヒアリングシート、過去の採択事例、市場データを素材として使ってください」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6032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E8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8856D"/>
                </a:solidFill>
                <a:latin typeface="Inter"/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Claude Code</a:t>
            </a:r>
            <a:br/>
            <a:r>
              <a:t>導入マニュアル解説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ChatGPTとの違い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Claude Codeとは何か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5943600" cy="4114800"/>
          </a:xfrm>
          <a:prstGeom prst="roundRect">
            <a:avLst>
              <a:gd name="adj" fmla="val 4000"/>
            </a:avLst>
          </a:prstGeom>
          <a:solidFill>
            <a:srgbClr val="F5F3E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7A88"/>
                </a:solidFill>
                <a:latin typeface="Noto Sans JP"/>
              </a:defRPr>
            </a:pPr>
            <a:r>
              <a:t>チャットAI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74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質問すると答えを返す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コピペは自分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ツール間の橋渡しは人間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743200"/>
            <a:ext cx="5943600" cy="41148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54A"/>
                </a:solidFill>
                <a:latin typeface="Noto Sans JP"/>
              </a:defRPr>
            </a:pPr>
            <a: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474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指示を出せばAIが直接ファイルを読み書き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コピペが発生しない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「運び屋」が構造的に消える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心臓部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CLAUDE.md = パート4の3要素そのもの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3A42"/>
                </a:solidFill>
                <a:latin typeface="Noto Sans JP"/>
              </a:defRPr>
            </a:pPr>
            <a:r>
              <a:t>Claude Codeの心臓部にCLAUDE.mdという設定ファイルがあります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役割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あなたは○○の専門家で、○○の業務を担当する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347472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指示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この手順で、この書式で、この基準に沿って作業しろ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347472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参考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この素材・データ・前例を使え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675120"/>
            <a:ext cx="1234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A3A42"/>
                </a:solidFill>
                <a:latin typeface="Noto Sans JP"/>
              </a:defRPr>
            </a:pPr>
            <a:r>
              <a:t>これがあるからAIが毎回文脈を理解した状態で動く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画面で導入手順を見せます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インストール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認証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CLAUDE.md</a:t>
            </a:r>
            <a:br/>
            <a:r>
              <a:t>作成・配置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タスク実行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486400"/>
            <a:ext cx="11887200" cy="13716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200" b="1">
                <a:solidFill>
                  <a:srgbClr val="18181B"/>
                </a:solidFill>
                <a:latin typeface="Noto Sans JP"/>
              </a:defRPr>
            </a:pPr>
            <a:r>
              <a:t>今見せた手順は参加特典のマニュアルにすべて入っています</a:t>
            </a:r>
            <a:br/>
            <a:r>
              <a:t>帰ったらそのまま再現できます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6032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E8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8856D"/>
                </a:solidFill>
                <a:latin typeface="Inter"/>
              </a:defRPr>
            </a:pPr>
            <a:r>
              <a:t>PART 6 —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事業計画書を</a:t>
            </a:r>
            <a:br/>
            <a:r>
              <a:t>一晩で作成する方法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前振り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3要素 + CLAUDE.mdが</a:t>
            </a:r>
            <a:br/>
            <a:r>
              <a:t>業務に組み込まれるとどうなるか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A3A42"/>
                </a:solidFill>
                <a:latin typeface="Noto Sans JP"/>
              </a:defRPr>
            </a:pPr>
            <a:r>
              <a:t>パート4で話した3要素、パート5で見せたCLAUDE.md。</a:t>
            </a:r>
            <a:br/>
            <a:r>
              <a:t>これが実際の業務でどう動くか、ここからデモで見せます。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ライブデモ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A3A42"/>
                </a:solidFill>
                <a:latin typeface="Noto Sans JP"/>
              </a:defRPr>
            </a:pPr>
            <a:r>
              <a:t>一言指示を入れるだけで、スキルが自動連携して動きます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ヒアリング</a:t>
            </a:r>
            <a:br/>
            <a:r>
              <a:t>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347472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47472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市場調査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47472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47472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SWOT</a:t>
            </a:r>
            <a:br/>
            <a:r>
              <a:t>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47472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47472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計画書</a:t>
            </a:r>
            <a:br/>
            <a:r>
              <a:t>作成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347472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38560" y="347472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審査</a:t>
            </a:r>
            <a:br/>
            <a:r>
              <a:t>シミュレーション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943600"/>
            <a:ext cx="11887200" cy="9144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200" b="1">
                <a:solidFill>
                  <a:srgbClr val="18181B"/>
                </a:solidFill>
                <a:latin typeface="Noto Sans JP"/>
              </a:defRPr>
            </a:pPr>
            <a:r>
              <a:t>各ステップが自動で次に進む = 人間のコピペが一切ない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なぜ「一晩」なのか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なぜ「一晩」なのか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5943600" cy="4114800"/>
          </a:xfrm>
          <a:prstGeom prst="roundRect">
            <a:avLst>
              <a:gd name="adj" fmla="val 4000"/>
            </a:avLst>
          </a:prstGeom>
          <a:solidFill>
            <a:srgbClr val="F5F3E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7A88"/>
                </a:solidFill>
                <a:latin typeface="Noto Sans JP"/>
              </a:defRPr>
            </a:pPr>
            <a:r>
              <a:t>従来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74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ヒアリング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手動で市場調査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Excelで分析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Wordで作文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7A7A88"/>
              </a:buClr>
              <a:buSzPct val="60000"/>
            </a:pPr>
            <a:r>
              <a:t>何日もかかる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743200"/>
            <a:ext cx="5943600" cy="41148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54A"/>
                </a:solidFill>
                <a:latin typeface="Noto Sans JP"/>
              </a:defRPr>
            </a:pPr>
            <a: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474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夕食前に情報を入力して走らせる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食べている間にノンストップで進む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戻ったら初稿が完成している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気づき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同じフレームで動いている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5943600" cy="27432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54A"/>
                </a:solidFill>
                <a:latin typeface="Noto Sans JP"/>
              </a:defRPr>
            </a:pPr>
            <a:r>
              <a:t>事業計画書の構造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747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誰が（事業者）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何を（補助事業）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どのように（実施方法・根拠データ）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743200"/>
            <a:ext cx="5943600" cy="27432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654A"/>
                </a:solidFill>
                <a:latin typeface="Noto Sans JP"/>
              </a:defRPr>
            </a:pPr>
            <a:r>
              <a:t>AIへの指示の構造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4747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役割（誰が）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指示（何を）</a:t>
            </a:r>
          </a:p>
          <a:p>
            <a:pPr algn="l">
              <a:spcAft>
                <a:spcPts val="800"/>
              </a:spcAft>
              <a:defRPr sz="18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参考（どのように）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6217920"/>
            <a:ext cx="12344400" cy="9144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200" b="1">
                <a:solidFill>
                  <a:srgbClr val="18181B"/>
                </a:solidFill>
                <a:latin typeface="Noto Sans JP"/>
              </a:defRPr>
            </a:pPr>
            <a:r>
              <a:t>AIへの指示も事業計画書も、同じフレームで動いている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6032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E8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8856D"/>
                </a:solidFill>
                <a:latin typeface="Inter"/>
              </a:defRPr>
            </a:pPr>
            <a:r>
              <a:t>PART 7 —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補助金自動収集</a:t>
            </a:r>
            <a:br/>
            <a:r>
              <a:t>システムのデモ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現状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今やっていること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各省庁</a:t>
            </a:r>
            <a:br/>
            <a:r>
              <a:t>サイト巡回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情報を</a:t>
            </a:r>
            <a:br/>
            <a:r>
              <a:t>読む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関係あるか</a:t>
            </a:r>
            <a:br/>
            <a:r>
              <a:t>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別の場所に</a:t>
            </a:r>
            <a:br/>
            <a:r>
              <a:t>メモ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943600"/>
            <a:ext cx="1234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A3A42"/>
                </a:solidFill>
                <a:latin typeface="Noto Sans JP"/>
              </a:defRPr>
            </a:pPr>
            <a:r>
              <a:t>まさにコピペ作業。しかも毎日やらないと見落とす。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自動収集システム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毎日</a:t>
            </a:r>
            <a:br/>
            <a:r>
              <a:t>自動収集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フィルタリング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200400"/>
            <a:ext cx="45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654A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200400"/>
            <a:ext cx="1645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18181B"/>
                </a:solidFill>
                <a:latin typeface="Noto Sans JP"/>
              </a:defRPr>
            </a:pPr>
            <a:r>
              <a:t>通知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1234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A3A42"/>
                </a:solidFill>
                <a:latin typeface="Noto Sans JP"/>
              </a:defRPr>
            </a:pPr>
            <a:r>
              <a:t>人間がやっていた巡回・転記が丸ごと消えています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パート1からの回収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これがコピペが消えた状態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1887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パート1からずっと話してきた「運び屋」がここでは存在しない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サイトを開く必要もない、メモする必要もない、見落としもない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これがパート4の3要素が揃った状態の、一番身近な例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6032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E8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8856D"/>
                </a:solidFill>
                <a:latin typeface="Inter"/>
              </a:defRPr>
            </a:pPr>
            <a:r>
              <a:t>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補助金攻略コースの</a:t>
            </a:r>
            <a:br/>
            <a:r>
              <a:t>ご案内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転換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ここまで見せてきたこと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コピペが消える仕組み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3要素の考え方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Claude Codeの導入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事業計画書と補助金収集の実際のデモ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486400"/>
            <a:ext cx="11887200" cy="13716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200" b="1">
                <a:solidFill>
                  <a:srgbClr val="18181B"/>
                </a:solidFill>
                <a:latin typeface="Noto Sans JP"/>
              </a:defRPr>
            </a:pPr>
            <a:r>
              <a:t>これを補助金申請に全部組み込んで</a:t>
            </a:r>
            <a:br/>
            <a:r>
              <a:t>一発で動くようにしたコースがあります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コースの中身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コース内容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384048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動画講座 40本超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補助金の基礎から審査対策、電子申請まで網羅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2926080"/>
            <a:ext cx="384048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AIスキル 5本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ヒアリング整理、市場調査、SWOT分析、計画書作成、審査シミュレーション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0"/>
            <a:ext cx="384048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テンプレート集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採択事例データベース付き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安心サポート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3つの安心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384048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30日間全額返金保証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合わなければ全額お返しします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2926080"/>
            <a:ext cx="384048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メールサポート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困ったときはいつでも相談できます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2926080"/>
            <a:ext cx="384048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D4654A"/>
                </a:solidFill>
                <a:latin typeface="Noto Sans JP"/>
              </a:defRPr>
            </a:pPr>
            <a:r>
              <a:t>永久アップデート</a:t>
            </a:r>
          </a:p>
          <a:p>
            <a:pPr>
              <a:defRPr sz="1400">
                <a:solidFill>
                  <a:srgbClr val="7A7A88"/>
                </a:solidFill>
                <a:latin typeface="Noto Sans JP"/>
              </a:defRPr>
            </a:pPr>
            <a:r>
              <a:t>制度変更にも追加費用なしで対応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価格比較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価格と比較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743200"/>
            <a:ext cx="5943600" cy="4114800"/>
          </a:xfrm>
          <a:prstGeom prst="roundRect">
            <a:avLst>
              <a:gd name="adj" fmla="val 4000"/>
            </a:avLst>
          </a:prstGeom>
          <a:solidFill>
            <a:srgbClr val="F5F3EF"/>
          </a:solidFill>
          <a:ln w="12700">
            <a:solidFill>
              <a:srgbClr val="E4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A7A88"/>
                </a:solidFill>
                <a:latin typeface="Noto Sans JP"/>
              </a:defRPr>
            </a:pPr>
            <a:r>
              <a:t>行政書士に依頼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A7A88"/>
                </a:solidFill>
                <a:latin typeface="Noto Sans JP"/>
              </a:defRPr>
            </a:pPr>
            <a:r>
              <a:rPr a:strike="sngStrike"/>
              <a:t>20万円超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A88"/>
                </a:solidFill>
                <a:latin typeface="Noto Sans JP"/>
              </a:defRPr>
            </a:pPr>
            <a:r>
              <a:t>着手金5〜15万 + 成功報酬</a:t>
            </a:r>
            <a:br/>
            <a:r>
              <a:t>しかも毎回かかる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743200"/>
            <a:ext cx="5943600" cy="41148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317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108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654A"/>
                </a:solidFill>
                <a:latin typeface="Noto Sans JP"/>
              </a:defRPr>
            </a:pPr>
            <a:r>
              <a:t>このコース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8404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654A"/>
                </a:solidFill>
                <a:latin typeface="Inter"/>
              </a:defRPr>
            </a:pPr>
            <a:r>
              <a:t>29,800円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1206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A3A42"/>
                </a:solidFill>
                <a:latin typeface="Noto Sans JP"/>
              </a:defRPr>
            </a:pPr>
            <a:r>
              <a:t>買い切り・何度でも使える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今日だけの特典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勉強会参加者限定特典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926080"/>
            <a:ext cx="11887200" cy="137160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2400" b="1">
                <a:solidFill>
                  <a:srgbClr val="18181B"/>
                </a:solidFill>
                <a:latin typeface="Noto Sans JP"/>
              </a:defRPr>
            </a:pPr>
            <a:r>
              <a:t>パート6で実演した「補助金自動生成プログラム」</a:t>
            </a:r>
            <a:br/>
            <a:r>
              <a:t>（Claude Codeスキルパッケージ）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通常はコースに含まれていない</a:t>
            </a:r>
          </a:p>
          <a:p>
            <a:pPr algn="l">
              <a:spcAft>
                <a:spcPts val="800"/>
              </a:spcAft>
              <a:defRPr sz="2200">
                <a:solidFill>
                  <a:srgbClr val="3A3A42"/>
                </a:solidFill>
                <a:latin typeface="Noto Sans JP"/>
              </a:defRPr>
              <a:buChar char="■"/>
              <a:buClr>
                <a:srgbClr val="D4654A"/>
              </a:buClr>
              <a:buSzPct val="60000"/>
            </a:pPr>
            <a:r>
              <a:t>今日の勉強会参加者だけに追加でつけます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3つの道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0040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282842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A7A88"/>
                </a:solidFill>
                <a:latin typeface="Noto Sans JP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Noto Sans JP"/>
              </a:defRPr>
            </a:pPr>
            <a:r>
              <a:t>今日の話は</a:t>
            </a:r>
            <a:br/>
            <a:r>
              <a:t>なかったことにする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320040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282842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3474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A7A88"/>
                </a:solidFill>
                <a:latin typeface="Noto Sans JP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4389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Noto Sans JP"/>
              </a:defRPr>
            </a:pPr>
            <a:r>
              <a:t>専門家に</a:t>
            </a:r>
            <a:br/>
            <a:r>
              <a:t>毎回依頼する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3200400"/>
            <a:ext cx="3474720" cy="3200400"/>
          </a:xfrm>
          <a:prstGeom prst="roundRect">
            <a:avLst>
              <a:gd name="adj" fmla="val 4000"/>
            </a:avLst>
          </a:prstGeom>
          <a:solidFill>
            <a:srgbClr val="3D1F1A"/>
          </a:solidFill>
          <a:ln w="317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3474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856D"/>
                </a:solidFill>
                <a:latin typeface="Noto Sans JP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43891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Noto Sans JP"/>
              </a:defRPr>
            </a:pPr>
            <a:r>
              <a:t>このコースで学んで</a:t>
            </a:r>
            <a:br/>
            <a:r>
              <a:t>AIと一緒にやる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56032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E88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8856D"/>
                </a:solidFill>
                <a:latin typeface="Inter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ご質問は</a:t>
            </a:r>
            <a:br/>
            <a:r>
              <a:t>ありますか？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548640"/>
            <a:ext cx="2286000" cy="36576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4654A"/>
                </a:solidFill>
                <a:latin typeface="Inter"/>
              </a:defRPr>
            </a:pPr>
            <a:r>
              <a:t>DEADLINE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Noto Sans JP"/>
              </a:defRPr>
            </a:pPr>
            <a:r>
              <a:t>お申し込み締切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200400"/>
            <a:ext cx="10972800" cy="1645920"/>
          </a:xfrm>
          <a:prstGeom prst="roundRect">
            <a:avLst>
              <a:gd name="adj" fmla="val 4000"/>
            </a:avLst>
          </a:prstGeom>
          <a:solidFill>
            <a:srgbClr val="FBF0EC"/>
          </a:solidFill>
          <a:ln w="12700">
            <a:solidFill>
              <a:srgbClr val="D46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 bIns="274320"/>
          <a:lstStyle/>
          <a:p>
            <a:pPr algn="l">
              <a:defRPr sz="4000" b="1">
                <a:solidFill>
                  <a:srgbClr val="18181B"/>
                </a:solidFill>
                <a:latin typeface="Noto Sans JP"/>
              </a:defRPr>
            </a:pPr>
            <a:r>
              <a:t>2026年 4月13日（日）23:59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1234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A3A42"/>
                </a:solidFill>
                <a:latin typeface="Noto Sans JP"/>
              </a:defRPr>
            </a:pPr>
            <a:r>
              <a:t>本日中にお申し込み方法をご案内いたします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457200"/>
            <a:ext cx="1828800" cy="38100"/>
          </a:xfrm>
          <a:prstGeom prst="rect">
            <a:avLst/>
          </a:prstGeom>
          <a:solidFill>
            <a:srgbClr val="D46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10896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Noto Sans JP"/>
              </a:defRPr>
            </a:pPr>
            <a: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30352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999AA"/>
                </a:solidFill>
                <a:latin typeface="Noto Sans JP"/>
              </a:defRPr>
            </a:pPr>
            <a:r>
              <a:t>Claude Code 導入勉強会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